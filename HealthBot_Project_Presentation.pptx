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9E795"/>
                </a:solidFill>
                <a:latin typeface="Calibri"/>
              </a:rPr>
              <a:t>UDACITY  ·  AI AGENTS WITH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HealthBot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9E795"/>
                </a:solidFill>
                <a:latin typeface="Calibri"/>
              </a:rPr>
              <a:t>AI-Powered Patient Education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A LangGraph-based multi-node workflow that delivers
personalised health education, adaptive quizzes, and
intelligent topic suggestions — powered by OpenAI &amp; Tavily.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✦  LangGraph State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299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✦  Tavily Real-Time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883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✦  Adaptive Difficulty Levels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34670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✦  Multi-Question Quiz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00507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✦  Auto-Grading with 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663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✦  Related Topic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CFC"/>
                </a:solidFill>
                <a:latin typeface="Calibri"/>
              </a:rPr>
              <a:t>Built on  Python 3.12  ·  LangChain 0.2  ·  LangGraph 0.2  ·  OpenAI GPT-3.5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BF8"/>
          </a:solidFill>
          <a:ln>
            <a:solidFill>
              <a:srgbClr val="F0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" y="201168"/>
            <a:ext cx="621792" cy="6217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795"/>
                </a:solidFill>
                <a:latin typeface="Calibri"/>
              </a:rPr>
              <a:t>Workflow Nodes 1 –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5488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Topic Selection, Difficulty Setting &amp; Health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51560"/>
            <a:ext cx="12024360" cy="36576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33856"/>
            <a:ext cx="11695176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587" y="1207008"/>
            <a:ext cx="6343777" cy="4251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5577840"/>
            <a:ext cx="12024360" cy="1143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2C39A"/>
                </a:solidFill>
                <a:latin typeface="Calibri"/>
              </a:rPr>
              <a:t>KEY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70448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User enters topic (Fever) → selects Easy difficulty → HealthBot searches Tavily for medical data → LLM generates a concise, patient-friendly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BF8"/>
          </a:solidFill>
          <a:ln>
            <a:solidFill>
              <a:srgbClr val="F0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" y="201168"/>
            <a:ext cx="621792" cy="6217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795"/>
                </a:solidFill>
                <a:latin typeface="Calibri"/>
              </a:rPr>
              <a:t>Workflow Nodes 5 –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5488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Comprehension Quiz with Step-by-Step Grading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51560"/>
            <a:ext cx="12024360" cy="36576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33856"/>
            <a:ext cx="11695176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235" y="1207008"/>
            <a:ext cx="6772481" cy="4251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5577840"/>
            <a:ext cx="12024360" cy="1143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2C39A"/>
                </a:solidFill>
                <a:latin typeface="Calibri"/>
              </a:rPr>
              <a:t>KEY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70448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Patient confirms readiness → chooses number of questions (4) → each question targets a different topic aspect → LLM grades each answer with explanation and citation from the summary.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BF8"/>
          </a:solidFill>
          <a:ln>
            <a:solidFill>
              <a:srgbClr val="F0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" y="201168"/>
            <a:ext cx="621792" cy="6217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795"/>
                </a:solidFill>
                <a:latin typeface="Calibri"/>
              </a:rPr>
              <a:t>Workflow Node 10 –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5488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Session Complete — Final Score &amp; Performance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51560"/>
            <a:ext cx="12024360" cy="36576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33856"/>
            <a:ext cx="11695176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79" y="1207008"/>
            <a:ext cx="10741793" cy="4251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5577840"/>
            <a:ext cx="12024360" cy="1143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2C39A"/>
                </a:solidFill>
                <a:latin typeface="Calibri"/>
              </a:rPr>
              <a:t>KEY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70448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After all questions are answered, the workflow displays the final score (2/4 correct, 50%), topic, difficulty level, and a personalised performance message before suggesting related topics.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BF8"/>
          </a:solidFill>
          <a:ln>
            <a:solidFill>
              <a:srgbClr val="F0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" y="201168"/>
            <a:ext cx="621792" cy="6217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795"/>
                </a:solidFill>
                <a:latin typeface="Calibri"/>
              </a:rPr>
              <a:t>Workflow Node 12 — Stand-Out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5488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Related Topic Suggestions &amp; Session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51560"/>
            <a:ext cx="12024360" cy="36576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33856"/>
            <a:ext cx="11695176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205" y="1207008"/>
            <a:ext cx="10324542" cy="4251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5577840"/>
            <a:ext cx="12024360" cy="1143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2C39A"/>
                </a:solidFill>
                <a:latin typeface="Calibri"/>
              </a:rPr>
              <a:t>KEY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70448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LLM generates 3 contextually related health topics. Patient can jump directly to a suggestion (1/2/3), choose a new topic (yes), or exit cleanly (no). State resets fully between sessions for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BF8"/>
          </a:solidFill>
          <a:ln>
            <a:solidFill>
              <a:srgbClr val="F0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8600" y="201168"/>
            <a:ext cx="621792" cy="62179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9E795"/>
                </a:solidFill>
                <a:latin typeface="Calibri"/>
              </a:rPr>
              <a:t>Technical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5488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LangGraph State Output — Full Workflow Execution Trace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051560"/>
            <a:ext cx="12024360" cy="36576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" y="1133856"/>
            <a:ext cx="11695176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7" y="1207008"/>
            <a:ext cx="10652637" cy="4251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4592" y="5577840"/>
            <a:ext cx="12024360" cy="1143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5669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2C39A"/>
                </a:solidFill>
                <a:latin typeface="Calibri"/>
              </a:rPr>
              <a:t>KEY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870448"/>
            <a:ext cx="11548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Complete LangGraph state dictionary returned after session end. Confirms all state fields (topic, search_results, summary, quiz_questions, grade, etc.) are correctly populated and passed between nodes throughout the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9E795"/>
                </a:solidFill>
                <a:latin typeface="Calibri"/>
              </a:rPr>
              <a:t>LANGGRAPH WORKFLOW — NODE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Complete 13-Node Workflow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1. Ask 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2. Difficulty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5888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3. Tavily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85816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4. Summarize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5744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5. Present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05672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6. Wait Ready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150876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7. #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33172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8. Gen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33172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9. Show Quiz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8" y="233172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10. Get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85816" y="233172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11. Grade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95744" y="233172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12. Show Grade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05672" y="2331720"/>
            <a:ext cx="1508760" cy="475488"/>
          </a:xfrm>
          <a:prstGeom prst="rect">
            <a:avLst/>
          </a:prstGeom>
          <a:solidFill>
            <a:srgbClr val="00A896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</a:rPr>
              <a:t>13. Suggest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" y="4572000"/>
            <a:ext cx="2651760" cy="1691640"/>
          </a:xfrm>
          <a:prstGeom prst="rect">
            <a:avLst/>
          </a:prstGeom>
          <a:solidFill>
            <a:srgbClr val="016070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" y="466344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⚙  Adaptive Difficulty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" y="504748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Easy / Medium / Hard level
adjusts summary &amp; quiz depth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4700" y="4572000"/>
            <a:ext cx="2651760" cy="1691640"/>
          </a:xfrm>
          <a:prstGeom prst="rect">
            <a:avLst/>
          </a:prstGeom>
          <a:solidFill>
            <a:srgbClr val="016070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4428" y="466344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🔁  Multi-Question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4428" y="504748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1–5 questions with loop-back
conditional edge in 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2492" y="4572000"/>
            <a:ext cx="2651760" cy="1691640"/>
          </a:xfrm>
          <a:prstGeom prst="rect">
            <a:avLst/>
          </a:prstGeom>
          <a:solidFill>
            <a:srgbClr val="016070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2220" y="466344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🏆  Final Score Card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2220" y="504748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Tracks correct answers;
displays % at session 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30284" y="4572000"/>
            <a:ext cx="2651760" cy="1691640"/>
          </a:xfrm>
          <a:prstGeom prst="rect">
            <a:avLst/>
          </a:prstGeom>
          <a:solidFill>
            <a:srgbClr val="016070"/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40012" y="4663440"/>
            <a:ext cx="2432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E795"/>
                </a:solidFill>
                <a:latin typeface="Calibri"/>
              </a:rPr>
              <a:t>💡  Related Suggestions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0012" y="5047488"/>
            <a:ext cx="2432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LLM suggests 3 next topics;
one-click topic switching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ADCFC"/>
                </a:solidFill>
                <a:latin typeface="Calibri"/>
              </a:rPr>
              <a:t>All 3 Udacity stand-out suggestions implemented  ·  13 LangGraph nodes  ·  Full state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